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57F9F-0840-19A2-9AE8-8CF283DBE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18F61A-9309-F350-8FC1-EE9D4F524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085FF-9B19-DFC9-3BC2-C21CBD816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37934-5CF8-4266-A329-D12F4891591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C1020-168C-7B29-47F3-3E3549377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17D47-77EF-F972-A53F-3E66361C1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0BCB-3DB2-40E4-B082-46E9BACA42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734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7E18D-1E37-8650-2E47-2B08C5AA0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7AB33-BCDC-0DD6-36BF-D59D5C55E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D4BBE-C0AB-0F4D-B182-48E3BD291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37934-5CF8-4266-A329-D12F4891591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92E28-662A-4FF8-1A24-CEA8B0B6F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36FFE-868D-CADC-3E80-F47335DA2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0BCB-3DB2-40E4-B082-46E9BACA42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648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13D13-FA00-9C44-72D5-230439293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5A26B3-91DC-1418-E584-68099C4D9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0E2E2-1CE7-23B3-51E3-FA5A377CB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37934-5CF8-4266-A329-D12F4891591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FA9C8-EA28-F9EB-EC2B-F9FAE14FC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307A4-3369-991E-3F32-BB89A1D2A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0BCB-3DB2-40E4-B082-46E9BACA42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559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54CD6-9BDA-8539-85A1-564B50AA2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59D50-4BB1-8950-9F8A-09C66BB9CF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E27C31-D8DF-D7E0-9349-6E4D4540AB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69D4A-A4ED-4133-E36C-0BF1B0DDC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37934-5CF8-4266-A329-D12F4891591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B28A56-2D96-E25F-BD79-45F24419D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16748-AF76-9494-BA23-F92C738EC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0BCB-3DB2-40E4-B082-46E9BACA42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182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1761C-D102-8480-366E-2773CE954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2E679-EE67-0FAC-B5EF-E52B9E153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6B9F66-DB7C-F1CA-D6F6-A42B0FF6E2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13529B-3258-32C4-A253-DB8B8464A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3FAE07-B06F-61FA-9DCA-04EF7A2CDA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58A126-26C2-869F-430E-159005C67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37934-5CF8-4266-A329-D12F4891591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580DCF-1E67-B6C7-BCC2-B9EA147C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A93EBA-8C78-D276-D3A3-E2DFA5F8B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0BCB-3DB2-40E4-B082-46E9BACA42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993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27EB7-AF98-83DA-DCC2-E55CAF03F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1DE448-9DAC-726B-46D1-E3AA694BC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37934-5CF8-4266-A329-D12F4891591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83AA64-2961-2D07-7DD2-C1CD950D2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1B389D-9C78-995A-BF10-2AF839C40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0BCB-3DB2-40E4-B082-46E9BACA42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858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08E486-48EC-8348-6278-AFC3277FB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37934-5CF8-4266-A329-D12F4891591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CFF515-9C02-59FB-9BAE-3D52EA24E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A45A6-19D0-D73D-9B4C-98C5BE9A6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0BCB-3DB2-40E4-B082-46E9BACA42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259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938D0-CC12-D018-89D9-7B2D3B00B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216F2-9C07-0335-C6AD-C00B63DE7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7F8A8C-B79C-237E-59C8-A14866C07A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1FD27D-8608-CB3D-926E-A46110AAA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37934-5CF8-4266-A329-D12F4891591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82F3B-6F89-34E0-ACE1-B052A516D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4AAF15-3C28-4F0C-A0C6-A93F5ED18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0BCB-3DB2-40E4-B082-46E9BACA42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818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B0AB9-3C51-5426-1789-115CC8276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7D1F75-DAE4-12F3-638F-FD67268AFA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CD220F-168A-FC5F-02B2-F05FCDAEE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6E812A-225C-07AF-57AF-42B652951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37934-5CF8-4266-A329-D12F4891591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ABA6F2-9502-6F77-845B-4AF89C01A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46CB6-9EFE-EA20-6615-1F6954558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0BCB-3DB2-40E4-B082-46E9BACA42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58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A2FA6-6BE6-05F6-73EB-EB791F59F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F3EC19-A37C-4EE2-5322-C6CF375DB5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CE995-814A-7E6C-D1FE-AA00974AC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37934-5CF8-4266-A329-D12F4891591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41B2D-F192-CD34-E7EE-09019F33A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90484-3F3A-F6E6-B1C5-B5B3EDB32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0BCB-3DB2-40E4-B082-46E9BACA42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857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37A740-7202-A534-4BCD-E6ED263374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B52CC7-6256-4B4E-E302-02F43694C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21422-CB8C-58CF-7062-D95310C94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37934-5CF8-4266-A329-D12F4891591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BD9ED-B5E4-7547-5F80-BDAE66991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A15DE-29D7-D4C8-F4F5-AD893D3FB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50BCB-3DB2-40E4-B082-46E9BACA42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269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FB7CBC-EABF-F693-417E-C03C867D4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8036D-9AA8-E886-CF1A-BF8488A7D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6393-16A0-B964-037A-95316193F0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37934-5CF8-4266-A329-D12F4891591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6FB1E-74BB-8CAB-1081-B8C8586EB7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11AA4-3A7C-DBE9-0873-2243C6EA27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050BCB-3DB2-40E4-B082-46E9BACA42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51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CD58-F576-E7C2-0CE0-443B4ADA78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2787" y="1545150"/>
            <a:ext cx="11346425" cy="1655762"/>
          </a:xfrm>
        </p:spPr>
        <p:txBody>
          <a:bodyPr>
            <a:normAutofit/>
          </a:bodyPr>
          <a:lstStyle/>
          <a:p>
            <a:r>
              <a:rPr lang="en-US" dirty="0"/>
              <a:t>DATA ANALYST Assignment -1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BF171B-90A7-C4AD-B0DC-6F7878DB44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00912"/>
            <a:ext cx="9144000" cy="2091813"/>
          </a:xfrm>
        </p:spPr>
        <p:txBody>
          <a:bodyPr/>
          <a:lstStyle/>
          <a:p>
            <a:r>
              <a:rPr lang="en-US" dirty="0"/>
              <a:t>Thinking Like a Data Analyst – Business to Insight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4984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4F124-3BD0-483E-FADC-1EFEE676C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58" y="230085"/>
            <a:ext cx="10970342" cy="450952"/>
          </a:xfrm>
        </p:spPr>
        <p:txBody>
          <a:bodyPr>
            <a:normAutofit fontScale="90000"/>
          </a:bodyPr>
          <a:lstStyle/>
          <a:p>
            <a:r>
              <a:rPr lang="en-IN" dirty="0"/>
              <a:t>SECTION 1: Core Concepts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588FA-2AA8-E64A-C913-F7912FB11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39" y="835742"/>
            <a:ext cx="10793361" cy="5341221"/>
          </a:xfrm>
        </p:spPr>
        <p:txBody>
          <a:bodyPr/>
          <a:lstStyle/>
          <a:p>
            <a:r>
              <a:rPr lang="en-US" sz="1400" b="1" dirty="0"/>
              <a:t>Data-</a:t>
            </a:r>
            <a:r>
              <a:rPr lang="en-US" sz="1400" dirty="0"/>
              <a:t>Data is a collection of information in raw or unorganized form. </a:t>
            </a:r>
          </a:p>
          <a:p>
            <a:r>
              <a:rPr lang="en-US" sz="1400" dirty="0"/>
              <a:t>example:</a:t>
            </a:r>
            <a:br>
              <a:rPr lang="en-US" sz="1400" dirty="0"/>
            </a:br>
            <a:r>
              <a:rPr lang="en-US" sz="1400" dirty="0"/>
              <a:t>A list of numbers showing daily sales is data.</a:t>
            </a:r>
          </a:p>
          <a:p>
            <a:r>
              <a:rPr lang="en-US" sz="1400" b="1" dirty="0"/>
              <a:t>Data Analytics-</a:t>
            </a:r>
            <a:r>
              <a:rPr lang="en-US" sz="1400" dirty="0"/>
              <a:t>Data analytics is the process of looking at data to understand what is happening and to make better decisions.</a:t>
            </a:r>
          </a:p>
          <a:p>
            <a:pPr marL="0" indent="0">
              <a:buNone/>
            </a:pPr>
            <a:r>
              <a:rPr lang="en-US" sz="1400" dirty="0"/>
              <a:t>example:</a:t>
            </a:r>
            <a:br>
              <a:rPr lang="en-US" sz="1400" dirty="0"/>
            </a:br>
            <a:r>
              <a:rPr lang="en-US" sz="1400" dirty="0"/>
              <a:t>Checking sales data to find which product is selling more is data analytics.</a:t>
            </a:r>
          </a:p>
          <a:p>
            <a:r>
              <a:rPr lang="en-US" sz="1400" b="1" dirty="0"/>
              <a:t>Difference between Data and Information-</a:t>
            </a:r>
            <a:r>
              <a:rPr lang="en-US" sz="1400" dirty="0"/>
              <a:t>Data is raw and unprocessed, while information is meaningful and easy to understand. Information is created when data is analyzed</a:t>
            </a:r>
          </a:p>
          <a:p>
            <a:r>
              <a:rPr lang="en-US" sz="1400" dirty="0"/>
              <a:t>example:</a:t>
            </a:r>
            <a:br>
              <a:rPr lang="en-US" sz="1400" dirty="0"/>
            </a:br>
            <a:r>
              <a:rPr lang="en-US" sz="1400" dirty="0"/>
              <a:t>Marks of students are data, but knowing the class average and top scorer is information.</a:t>
            </a:r>
          </a:p>
          <a:p>
            <a:r>
              <a:rPr lang="en-US" sz="1400" b="1" dirty="0"/>
              <a:t>Why companies invest heavily in data analytics</a:t>
            </a:r>
          </a:p>
          <a:p>
            <a:endParaRPr lang="en-US" sz="11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02F4DD-C080-99D4-BC3C-AD74AD6B6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4602" y="3868639"/>
            <a:ext cx="732503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decisions</a:t>
            </a:r>
            <a:r>
              <a:rPr lang="en-US" altLang="en-US" sz="1400" dirty="0">
                <a:latin typeface="Arial" panose="020B0604020202020204" pitchFamily="34" charset="0"/>
              </a:rPr>
              <a:t>-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Companies use data instead of guessing.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shop checks sales before ordering products.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Know customer needs</a:t>
            </a:r>
            <a:r>
              <a:rPr lang="en-US" altLang="en-US" sz="1400" dirty="0">
                <a:latin typeface="Arial" panose="020B0604020202020204" pitchFamily="34" charset="0"/>
              </a:rPr>
              <a:t>-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Companies learn what customers like.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 app shows products based on user interest.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 sales</a:t>
            </a:r>
            <a:r>
              <a:rPr lang="en-US" altLang="en-US" sz="1400" dirty="0">
                <a:latin typeface="Arial" panose="020B0604020202020204" pitchFamily="34" charset="0"/>
              </a:rPr>
              <a:t>-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helps find which products sell more.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store keeps more fast-selling items.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cost</a:t>
            </a:r>
            <a:r>
              <a:rPr lang="en-US" altLang="en-US" sz="1400" dirty="0">
                <a:latin typeface="Arial" panose="020B0604020202020204" pitchFamily="34" charset="0"/>
              </a:rPr>
              <a:t>-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Companies find where money is wasted.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company reduces extra stock.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work process</a:t>
            </a:r>
            <a:r>
              <a:rPr lang="en-US" altLang="en-US" sz="1400" dirty="0">
                <a:latin typeface="Arial" panose="020B0604020202020204" pitchFamily="34" charset="0"/>
              </a:rPr>
              <a:t>-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helps fix problems in daily work.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delivery company improves late deliveries.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705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BA132-1F82-6BD2-D116-B360CD9CA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58" y="18256"/>
            <a:ext cx="11039168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SECTION 2: Types of Data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FAE0E-43E0-239D-4A7F-811E08238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32" y="681037"/>
            <a:ext cx="11039168" cy="5495926"/>
          </a:xfrm>
        </p:spPr>
        <p:txBody>
          <a:bodyPr>
            <a:normAutofit/>
          </a:bodyPr>
          <a:lstStyle/>
          <a:p>
            <a:r>
              <a:rPr lang="en-US" sz="1400" b="1" dirty="0"/>
              <a:t>Types of Data</a:t>
            </a:r>
          </a:p>
          <a:p>
            <a:r>
              <a:rPr lang="en-US" sz="1400" b="1" dirty="0"/>
              <a:t>Structured Data-</a:t>
            </a:r>
            <a:r>
              <a:rPr lang="en-US" sz="1400" dirty="0"/>
              <a:t>Data  is arranged in rows and columns.</a:t>
            </a:r>
          </a:p>
          <a:p>
            <a:r>
              <a:rPr lang="en-US" sz="1400" b="1" dirty="0"/>
              <a:t>Semi-Structured Data-</a:t>
            </a:r>
            <a:r>
              <a:rPr lang="en-US" sz="1400" dirty="0"/>
              <a:t>Data  is  arranged but not in a table form.</a:t>
            </a:r>
          </a:p>
          <a:p>
            <a:r>
              <a:rPr lang="en-US" sz="1400" b="1" dirty="0"/>
              <a:t>Unstructured Data-</a:t>
            </a:r>
            <a:r>
              <a:rPr lang="en-US" sz="1400" dirty="0"/>
              <a:t>Data  is not arranged in rows and columns.</a:t>
            </a:r>
            <a:br>
              <a:rPr lang="en-US" sz="1400" dirty="0"/>
            </a:br>
            <a:r>
              <a:rPr lang="en-US" sz="1400" b="1" dirty="0"/>
              <a:t>Type of Data and Nature</a:t>
            </a:r>
          </a:p>
          <a:p>
            <a:r>
              <a:rPr lang="en-US" sz="1400" dirty="0"/>
              <a:t>a) Customer age-Quantitative</a:t>
            </a:r>
          </a:p>
          <a:p>
            <a:r>
              <a:rPr lang="en-US" sz="1400" dirty="0"/>
              <a:t>b) Netflix movie review text-Qualitative</a:t>
            </a:r>
          </a:p>
          <a:p>
            <a:r>
              <a:rPr lang="en-US" sz="1400" dirty="0"/>
              <a:t>c) Bank transaction table-Quantitative</a:t>
            </a:r>
          </a:p>
          <a:p>
            <a:r>
              <a:rPr lang="en-US" sz="1400" dirty="0"/>
              <a:t>d) Uber GPS coordinates-Quantitative</a:t>
            </a:r>
          </a:p>
          <a:p>
            <a:r>
              <a:rPr lang="en-US" sz="1400" dirty="0"/>
              <a:t>e) Amazon product ratings (1–5)-Quantitative</a:t>
            </a:r>
          </a:p>
          <a:p>
            <a:r>
              <a:rPr lang="en-US" sz="1400" b="1" dirty="0"/>
              <a:t>Convert unstructured data into structured form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7F9BC9F-781C-07F3-9770-0B50389B4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85488"/>
              </p:ext>
            </p:extLst>
          </p:nvPr>
        </p:nvGraphicFramePr>
        <p:xfrm>
          <a:off x="1199535" y="4245626"/>
          <a:ext cx="9429136" cy="7315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510445">
                  <a:extLst>
                    <a:ext uri="{9D8B030D-6E8A-4147-A177-3AD203B41FA5}">
                      <a16:colId xmlns:a16="http://schemas.microsoft.com/office/drawing/2014/main" val="3016065195"/>
                    </a:ext>
                  </a:extLst>
                </a:gridCol>
                <a:gridCol w="1387178">
                  <a:extLst>
                    <a:ext uri="{9D8B030D-6E8A-4147-A177-3AD203B41FA5}">
                      <a16:colId xmlns:a16="http://schemas.microsoft.com/office/drawing/2014/main" val="254605151"/>
                    </a:ext>
                  </a:extLst>
                </a:gridCol>
                <a:gridCol w="2531513">
                  <a:extLst>
                    <a:ext uri="{9D8B030D-6E8A-4147-A177-3AD203B41FA5}">
                      <a16:colId xmlns:a16="http://schemas.microsoft.com/office/drawing/2014/main" val="10504560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feedback_text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sentiment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issue_type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895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The delivery was late and customer support was poor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Negative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Delivery and 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3389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6523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38CF7-DB4F-490B-BC35-3CF6FAF64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03" y="301790"/>
            <a:ext cx="10515600" cy="758493"/>
          </a:xfrm>
        </p:spPr>
        <p:txBody>
          <a:bodyPr/>
          <a:lstStyle/>
          <a:p>
            <a:r>
              <a:rPr lang="en-US" dirty="0"/>
              <a:t>SECTION 3: Analytics Types Mapping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249EB83-F2C3-8A7E-8A65-64897B7D51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4941395"/>
              </p:ext>
            </p:extLst>
          </p:nvPr>
        </p:nvGraphicFramePr>
        <p:xfrm>
          <a:off x="838200" y="1805754"/>
          <a:ext cx="10515600" cy="346433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26280768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96924524"/>
                    </a:ext>
                  </a:extLst>
                </a:gridCol>
              </a:tblGrid>
              <a:tr h="692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Business Question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Analytics 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8202427"/>
                  </a:ext>
                </a:extLst>
              </a:tr>
              <a:tr h="692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Why are users uninstalling our app?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Diagnostic Analytics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4302530"/>
                  </a:ext>
                </a:extLst>
              </a:tr>
              <a:tr h="692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How many users logged in yesterday?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Descriptive Analytics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932676"/>
                  </a:ext>
                </a:extLst>
              </a:tr>
              <a:tr h="692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What will next month’s revenue be?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Predictive Analytics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9777"/>
                  </a:ext>
                </a:extLst>
              </a:tr>
              <a:tr h="692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Which action should reduce churn?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Prescriptive Analytics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78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3214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A223D-1CAD-D516-44D3-726480FD8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109" y="146076"/>
            <a:ext cx="10931014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SECTION 4: Industry Use-Case Deep Dive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C6046A1-87F8-CB55-BEC5-C2ABA6CAEC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549057"/>
              </p:ext>
            </p:extLst>
          </p:nvPr>
        </p:nvGraphicFramePr>
        <p:xfrm>
          <a:off x="294968" y="808858"/>
          <a:ext cx="9183329" cy="592429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895475774"/>
                    </a:ext>
                  </a:extLst>
                </a:gridCol>
                <a:gridCol w="3738907">
                  <a:extLst>
                    <a:ext uri="{9D8B030D-6E8A-4147-A177-3AD203B41FA5}">
                      <a16:colId xmlns:a16="http://schemas.microsoft.com/office/drawing/2014/main" val="3699128913"/>
                    </a:ext>
                  </a:extLst>
                </a:gridCol>
                <a:gridCol w="3920422">
                  <a:extLst>
                    <a:ext uri="{9D8B030D-6E8A-4147-A177-3AD203B41FA5}">
                      <a16:colId xmlns:a16="http://schemas.microsoft.com/office/drawing/2014/main" val="953385805"/>
                    </a:ext>
                  </a:extLst>
                </a:gridCol>
              </a:tblGrid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Company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Data type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Why it is collected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1204300637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Netflix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User details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To know users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3491850393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Netflix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Watch history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To know what users watch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147685674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Netflix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Search history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To know what users search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950924800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Netflix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Subscription details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To manage payment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3069339885"/>
                  </a:ext>
                </a:extLst>
              </a:tr>
              <a:tr h="2207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Netflix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Ratings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To improve shows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2253946528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Amazon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Customer details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To know customers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1910474988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Amazon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Order history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To know what customers buy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4187435457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Amazon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Search history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To suggest products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2975902142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Amazon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Payment details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To complete payment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3182094864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</a:rPr>
                        <a:t>Amazon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Reviews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To improve products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2851886132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070C0"/>
                          </a:solidFill>
                        </a:rPr>
                        <a:t>Uber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User details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To know riders and drivers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4183039864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070C0"/>
                          </a:solidFill>
                        </a:rPr>
                        <a:t>Uber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Trip history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To track rides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827201018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070C0"/>
                          </a:solidFill>
                        </a:rPr>
                        <a:t>Uber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Location data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To find pickup and drop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2200618124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0070C0"/>
                          </a:solidFill>
                        </a:rPr>
                        <a:t>Uber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Payment details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To process payment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561359910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0070C0"/>
                          </a:solidFill>
                        </a:rPr>
                        <a:t>Uber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Ratings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To improve service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1392825248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FF0066"/>
                          </a:solidFill>
                        </a:rPr>
                        <a:t>Bank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Customer details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To know customers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533444178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FF0066"/>
                          </a:solidFill>
                        </a:rPr>
                        <a:t>Bank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Account details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To manage accounts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949143406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FF0066"/>
                          </a:solidFill>
                        </a:rPr>
                        <a:t>Bank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Transaction history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To track money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3429029165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rgbClr val="FF0066"/>
                          </a:solidFill>
                        </a:rPr>
                        <a:t>Bank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Loan details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To manage loans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135200807"/>
                  </a:ext>
                </a:extLst>
              </a:tr>
              <a:tr h="22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FF0066"/>
                          </a:solidFill>
                        </a:rPr>
                        <a:t>Bank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Complaints</a:t>
                      </a:r>
                    </a:p>
                  </a:txBody>
                  <a:tcPr marL="67299" marR="67299" marT="33649" marB="3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To improve service</a:t>
                      </a:r>
                    </a:p>
                  </a:txBody>
                  <a:tcPr marL="67299" marR="67299" marT="33649" marB="33649" anchor="ctr"/>
                </a:tc>
                <a:extLst>
                  <a:ext uri="{0D108BD9-81ED-4DB2-BD59-A6C34878D82A}">
                    <a16:rowId xmlns:a16="http://schemas.microsoft.com/office/drawing/2014/main" val="1904956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7045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6F5D1-58C9-EF37-3151-50EDF7AA6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318"/>
            <a:ext cx="10515600" cy="45719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C6791-FBFC-A772-8C1E-FC72F4160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793" y="412954"/>
            <a:ext cx="11464413" cy="618807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 dirty="0"/>
              <a:t>Netflix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Descriptive</a:t>
            </a:r>
            <a:r>
              <a:rPr lang="en-US" sz="1400" b="1" dirty="0"/>
              <a:t>:</a:t>
            </a:r>
            <a:r>
              <a:rPr lang="en-US" sz="1400" dirty="0"/>
              <a:t> Past views using watch data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Diagnostic</a:t>
            </a:r>
            <a:r>
              <a:rPr lang="en-US" sz="1400" b="1" dirty="0"/>
              <a:t>:</a:t>
            </a:r>
            <a:r>
              <a:rPr lang="en-US" sz="1400" dirty="0"/>
              <a:t> Reason for low views using reviews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Predictive</a:t>
            </a:r>
            <a:r>
              <a:rPr lang="en-US" sz="1400" b="1" dirty="0"/>
              <a:t>:</a:t>
            </a:r>
            <a:r>
              <a:rPr lang="en-US" sz="1400" dirty="0"/>
              <a:t> Next month views using past data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Prescriptive</a:t>
            </a:r>
            <a:r>
              <a:rPr lang="en-US" sz="1400" b="1" dirty="0"/>
              <a:t>:</a:t>
            </a:r>
            <a:r>
              <a:rPr lang="en-US" sz="1400" dirty="0"/>
              <a:t> Best action to increase views</a:t>
            </a:r>
          </a:p>
          <a:p>
            <a:pPr marL="0" indent="0">
              <a:buNone/>
            </a:pPr>
            <a:r>
              <a:rPr lang="en-US" sz="2000" b="1" dirty="0"/>
              <a:t>Amazon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Descriptive</a:t>
            </a:r>
            <a:r>
              <a:rPr lang="en-US" sz="1400" b="1" dirty="0"/>
              <a:t>:</a:t>
            </a:r>
            <a:r>
              <a:rPr lang="en-US" sz="1400" dirty="0"/>
              <a:t> Past sales using order data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Diagnostic</a:t>
            </a:r>
            <a:r>
              <a:rPr lang="en-US" sz="1400" b="1" dirty="0"/>
              <a:t>:</a:t>
            </a:r>
            <a:r>
              <a:rPr lang="en-US" sz="1400" dirty="0"/>
              <a:t> Reason for low sales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Predictive</a:t>
            </a:r>
            <a:r>
              <a:rPr lang="en-US" sz="1400" b="1" dirty="0"/>
              <a:t>:</a:t>
            </a:r>
            <a:r>
              <a:rPr lang="en-US" sz="1400" dirty="0"/>
              <a:t> Next month sales using past data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Prescriptive:</a:t>
            </a:r>
            <a:r>
              <a:rPr lang="en-US" sz="1400" dirty="0">
                <a:solidFill>
                  <a:srgbClr val="0070C0"/>
                </a:solidFill>
              </a:rPr>
              <a:t> </a:t>
            </a:r>
            <a:r>
              <a:rPr lang="en-US" sz="1400" dirty="0"/>
              <a:t>Best action to increase sales</a:t>
            </a:r>
          </a:p>
          <a:p>
            <a:pPr marL="0" indent="0">
              <a:buNone/>
            </a:pPr>
            <a:r>
              <a:rPr lang="en-US" sz="2200" b="1" dirty="0"/>
              <a:t>Uber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Descriptive</a:t>
            </a:r>
            <a:r>
              <a:rPr lang="en-US" sz="1400" b="1" dirty="0"/>
              <a:t>:</a:t>
            </a:r>
            <a:r>
              <a:rPr lang="en-US" sz="1400" dirty="0"/>
              <a:t> Total rides using trip data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Diagnostic</a:t>
            </a:r>
            <a:r>
              <a:rPr lang="en-US" sz="1400" b="1" dirty="0"/>
              <a:t>:</a:t>
            </a:r>
            <a:r>
              <a:rPr lang="en-US" sz="1400" dirty="0"/>
              <a:t> Reason for fewer rides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Predictive</a:t>
            </a:r>
            <a:r>
              <a:rPr lang="en-US" sz="1400" b="1" dirty="0"/>
              <a:t>:</a:t>
            </a:r>
            <a:r>
              <a:rPr lang="en-US" sz="1400" dirty="0"/>
              <a:t> Future rides using past trips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Prescriptive</a:t>
            </a:r>
            <a:r>
              <a:rPr lang="en-US" sz="1400" b="1" dirty="0"/>
              <a:t>:</a:t>
            </a:r>
            <a:r>
              <a:rPr lang="en-US" sz="1400" dirty="0"/>
              <a:t> Best action to increase rides</a:t>
            </a:r>
          </a:p>
          <a:p>
            <a:pPr marL="0" indent="0">
              <a:buNone/>
            </a:pPr>
            <a:r>
              <a:rPr lang="en-US" sz="2200" b="1" dirty="0"/>
              <a:t>Bank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Descriptive</a:t>
            </a:r>
            <a:r>
              <a:rPr lang="en-US" sz="1400" b="1" dirty="0"/>
              <a:t>:</a:t>
            </a:r>
            <a:r>
              <a:rPr lang="en-US" sz="1400" dirty="0"/>
              <a:t> Past income using transaction data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Diagnostic</a:t>
            </a:r>
            <a:r>
              <a:rPr lang="en-US" sz="1400" b="1" dirty="0"/>
              <a:t>:</a:t>
            </a:r>
            <a:r>
              <a:rPr lang="en-US" sz="1400" dirty="0"/>
              <a:t> Reason for low income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Predictive</a:t>
            </a:r>
            <a:r>
              <a:rPr lang="en-US" sz="1400" b="1" dirty="0"/>
              <a:t>:</a:t>
            </a:r>
            <a:r>
              <a:rPr lang="en-US" sz="1400" dirty="0"/>
              <a:t> Future income using past data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Prescriptive</a:t>
            </a:r>
            <a:r>
              <a:rPr lang="en-US" sz="1400" b="1" dirty="0"/>
              <a:t>:</a:t>
            </a:r>
            <a:r>
              <a:rPr lang="en-US" sz="1400" dirty="0"/>
              <a:t> Best action to improve income</a:t>
            </a:r>
          </a:p>
          <a:p>
            <a:endParaRPr lang="en-US" sz="1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8294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3D0A8-32B2-48C5-0540-A43DC6E60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8647"/>
            <a:ext cx="10515600" cy="716423"/>
          </a:xfrm>
        </p:spPr>
        <p:txBody>
          <a:bodyPr/>
          <a:lstStyle/>
          <a:p>
            <a:r>
              <a:rPr lang="en-US" dirty="0"/>
              <a:t>SECTION 5: Analyst Thinking Test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254A0-80AC-B8D6-0FCB-AA0A73693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916" y="875070"/>
            <a:ext cx="11144864" cy="598293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1.Questions to ask first</a:t>
            </a:r>
          </a:p>
          <a:p>
            <a:r>
              <a:rPr lang="en-US" sz="2000" dirty="0"/>
              <a:t>When did revenue start falling?</a:t>
            </a:r>
          </a:p>
          <a:p>
            <a:r>
              <a:rPr lang="en-US" sz="2000" dirty="0"/>
              <a:t>Which product or service is affected?</a:t>
            </a:r>
          </a:p>
          <a:p>
            <a:r>
              <a:rPr lang="en-US" sz="2000" dirty="0"/>
              <a:t>Are fewer customers buying?</a:t>
            </a:r>
          </a:p>
          <a:p>
            <a:r>
              <a:rPr lang="en-US" sz="2000" dirty="0"/>
              <a:t>Did prices change?</a:t>
            </a:r>
          </a:p>
          <a:p>
            <a:r>
              <a:rPr lang="en-US" sz="2000" dirty="0"/>
              <a:t>Is this happening in all locations?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2. Data to request</a:t>
            </a:r>
          </a:p>
          <a:p>
            <a:r>
              <a:rPr lang="en-US" sz="1800" dirty="0"/>
              <a:t>Sales data</a:t>
            </a:r>
          </a:p>
          <a:p>
            <a:r>
              <a:rPr lang="en-US" sz="1800" dirty="0"/>
              <a:t>Customer data</a:t>
            </a:r>
          </a:p>
          <a:p>
            <a:r>
              <a:rPr lang="en-US" sz="1800" dirty="0"/>
              <a:t>Product data</a:t>
            </a:r>
          </a:p>
          <a:p>
            <a:r>
              <a:rPr lang="en-US" sz="1800" dirty="0"/>
              <a:t>Price data</a:t>
            </a:r>
          </a:p>
          <a:p>
            <a:r>
              <a:rPr lang="en-US" sz="1800" dirty="0"/>
              <a:t>Time-based sales data</a:t>
            </a:r>
          </a:p>
          <a:p>
            <a:pPr marL="0" indent="0">
              <a:buNone/>
            </a:pPr>
            <a:r>
              <a:rPr lang="en-US" b="1" dirty="0"/>
              <a:t>3. Metrics to analyze</a:t>
            </a:r>
          </a:p>
          <a:p>
            <a:r>
              <a:rPr lang="en-US" sz="1700" dirty="0"/>
              <a:t>Total revenue</a:t>
            </a:r>
          </a:p>
          <a:p>
            <a:r>
              <a:rPr lang="en-US" sz="1700" dirty="0"/>
              <a:t>Number of customers</a:t>
            </a:r>
          </a:p>
          <a:p>
            <a:r>
              <a:rPr lang="en-US" sz="1700" dirty="0"/>
              <a:t>Number of orders</a:t>
            </a:r>
          </a:p>
          <a:p>
            <a:r>
              <a:rPr lang="en-US" sz="1700" dirty="0"/>
              <a:t>Average sale value</a:t>
            </a:r>
          </a:p>
          <a:p>
            <a:r>
              <a:rPr lang="en-US" sz="1700" dirty="0"/>
              <a:t>Customer repeat rate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6716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4DCAC-5189-67F2-38E1-EFEC8B38F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822"/>
            <a:ext cx="11058832" cy="942565"/>
          </a:xfrm>
        </p:spPr>
        <p:txBody>
          <a:bodyPr/>
          <a:lstStyle/>
          <a:p>
            <a:r>
              <a:rPr lang="en-IN" dirty="0"/>
              <a:t>SECTION 6: Insight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072A6-6D6A-EF8F-079C-3C08EA0DB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8" y="1130710"/>
            <a:ext cx="11058832" cy="50462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Data analytics means using business data to understand what is happening in the company.</a:t>
            </a:r>
            <a:br>
              <a:rPr lang="en-US" dirty="0"/>
            </a:br>
            <a:r>
              <a:rPr lang="en-US" dirty="0"/>
              <a:t>It helps leaders make decisions based on facts.</a:t>
            </a:r>
            <a:br>
              <a:rPr lang="en-US" dirty="0"/>
            </a:br>
            <a:r>
              <a:rPr lang="en-US" dirty="0"/>
              <a:t>Analytics shows where the business is doing well and where it is losing money.</a:t>
            </a:r>
            <a:br>
              <a:rPr lang="en-US" dirty="0"/>
            </a:br>
            <a:r>
              <a:rPr lang="en-US" dirty="0"/>
              <a:t>It helps improve customer satisfaction and reduce unnecessary costs.</a:t>
            </a:r>
            <a:br>
              <a:rPr lang="en-US" dirty="0"/>
            </a:br>
            <a:r>
              <a:rPr lang="en-US" dirty="0"/>
              <a:t>Using data analytics helps the business grow and stay competitive.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9683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776</Words>
  <Application>Microsoft Office PowerPoint</Application>
  <PresentationFormat>Widescreen</PresentationFormat>
  <Paragraphs>148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DATA ANALYST Assignment -1</vt:lpstr>
      <vt:lpstr>SECTION 1: Core Concepts </vt:lpstr>
      <vt:lpstr>SECTION 2: Types of Data</vt:lpstr>
      <vt:lpstr>SECTION 3: Analytics Types Mapping</vt:lpstr>
      <vt:lpstr>SECTION 4: Industry Use-Case Deep Dive</vt:lpstr>
      <vt:lpstr>PowerPoint Presentation</vt:lpstr>
      <vt:lpstr>SECTION 5: Analyst Thinking Test</vt:lpstr>
      <vt:lpstr>SECTION 6: Insight Communication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Elakkiya S</dc:creator>
  <cp:lastModifiedBy>Elakkiya S</cp:lastModifiedBy>
  <cp:revision>1</cp:revision>
  <dcterms:created xsi:type="dcterms:W3CDTF">2026-02-04T05:52:05Z</dcterms:created>
  <dcterms:modified xsi:type="dcterms:W3CDTF">2026-02-04T06:06:08Z</dcterms:modified>
</cp:coreProperties>
</file>